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  <a:latin typeface="Arial"/>
              </a:defRPr>
            </a:pPr>
            <a:r>
              <a:t>CENTINELA ENGINE: PILAR 2</a:t>
            </a:r>
          </a:p>
          <a:p>
            <a:pPr>
              <a:spcBef>
                <a:spcPts val="800"/>
              </a:spcBef>
              <a:defRPr sz="1800" i="1">
                <a:solidFill>
                  <a:srgbClr val="10B981"/>
                </a:solidFill>
                <a:latin typeface="Arial"/>
              </a:defRPr>
            </a:pPr>
            <a:r>
              <a:t>Conexión Estratégica del Motor de Análisis Python 3.13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Ecosistema Reactivo: Integración directa entre Flutter UI y scripts de backend.</a:t>
            </a:r>
          </a:p>
          <a:p>
            <a:pPr algn="l">
              <a:spcBef>
                <a:spcPts val="24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Arquitectura Asíncrona: Procesamiento en segundo plano sin congelamiento visual.</a:t>
            </a:r>
          </a:p>
          <a:p>
            <a:pPr algn="l">
              <a:spcBef>
                <a:spcPts val="24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Objetivo del Módulo: Reemplazar simulaciones estáticas por veredictos reales.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  <a:latin typeface="Arial"/>
              </a:defRPr>
            </a:pPr>
            <a:r>
              <a:t>MECANISMO DE INGESTIÓN DE DATA</a:t>
            </a:r>
          </a:p>
          <a:p>
            <a:pPr>
              <a:spcBef>
                <a:spcPts val="800"/>
              </a:spcBef>
              <a:defRPr sz="1800" i="1">
                <a:solidFill>
                  <a:srgbClr val="10B981"/>
                </a:solidFill>
                <a:latin typeface="Arial"/>
              </a:defRPr>
            </a:pPr>
            <a:r>
              <a:t>Protocolo de Entrada y Sanitización de URLs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Captura por TextField: Recepción en tiempo real de cadenas sospechosas.</a:t>
            </a:r>
          </a:p>
          <a:p>
            <a:pPr algn="l">
              <a:spcBef>
                <a:spcPts val="24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Sanitización en Python: Limpieza de expresiones regulares e inyecciones de código.</a:t>
            </a:r>
          </a:p>
          <a:p>
            <a:pPr algn="l">
              <a:spcBef>
                <a:spcPts val="24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Fase de Disparo: Aceleración automática del giro 3D del escudo al iniciar parsing.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  <a:latin typeface="Arial"/>
              </a:defRPr>
            </a:pPr>
            <a:r>
              <a:t>PROCESAMIENTO DE AMENAZAS</a:t>
            </a:r>
          </a:p>
          <a:p>
            <a:pPr>
              <a:spcBef>
                <a:spcPts val="800"/>
              </a:spcBef>
              <a:defRPr sz="1800" i="1">
                <a:solidFill>
                  <a:srgbClr val="10B981"/>
                </a:solidFill>
                <a:latin typeface="Arial"/>
              </a:defRPr>
            </a:pPr>
            <a:r>
              <a:t>Motor Analítico y Consulta de Firmas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Módulo de Análisis: Inspección heurística y matching de strings peligrosos.</a:t>
            </a:r>
          </a:p>
          <a:p>
            <a:pPr algn="l">
              <a:spcBef>
                <a:spcPts val="24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Estructura Escalable: Preparado para integración de APIs de seguridad (VirusTotal).</a:t>
            </a:r>
          </a:p>
          <a:p>
            <a:pPr algn="l">
              <a:spcBef>
                <a:spcPts val="24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Clasificación Binaria: Retorno inmediato de flags de estado [LIMPIO / PELIGRO].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  <a:latin typeface="Arial"/>
              </a:defRPr>
            </a:pPr>
            <a:r>
              <a:t>RESPUESTA REACTIVA DE LA INTERFAZ</a:t>
            </a:r>
          </a:p>
          <a:p>
            <a:pPr>
              <a:spcBef>
                <a:spcPts val="800"/>
              </a:spcBef>
              <a:defRPr sz="1800" i="1">
                <a:solidFill>
                  <a:srgbClr val="10B981"/>
                </a:solidFill>
                <a:latin typeface="Arial"/>
              </a:defRPr>
            </a:pPr>
            <a:r>
              <a:t>Mapeo de Canales y Retorno de Flags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Mutación de Estado: Cambio instantáneo de matriz cromática basada en el payload.</a:t>
            </a:r>
          </a:p>
          <a:p>
            <a:pPr algn="l">
              <a:spcBef>
                <a:spcPts val="24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Retroalimentación Resonante: Efectos Glow reactivos (Verde Neón / Rojo Alerta).</a:t>
            </a:r>
          </a:p>
          <a:p>
            <a:pPr algn="l">
              <a:spcBef>
                <a:spcPts val="24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Persistencia de Evidencias: Inserción atómica en el Historial de Vigilancia.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  <a:latin typeface="Arial"/>
              </a:defRPr>
            </a:pPr>
            <a:r>
              <a:t>HOJA DE RUTA E INYECCIÓN DE CÓDIGO</a:t>
            </a:r>
          </a:p>
          <a:p>
            <a:pPr>
              <a:spcBef>
                <a:spcPts val="800"/>
              </a:spcBef>
              <a:defRPr sz="1800" i="1">
                <a:solidFill>
                  <a:srgbClr val="10B981"/>
                </a:solidFill>
                <a:latin typeface="Arial"/>
              </a:defRPr>
            </a:pPr>
            <a:r>
              <a:t>Siguientes Pasos del Despliegue Técnico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Fase 1: Implementar sockets de comunicación local o API REST con Flask.</a:t>
            </a:r>
          </a:p>
          <a:p>
            <a:pPr algn="l">
              <a:spcBef>
                <a:spcPts val="24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Fase 2: Conectar el validador real al botón 'Escanear Ahora'.</a:t>
            </a:r>
          </a:p>
          <a:p>
            <a:pPr algn="l">
              <a:spcBef>
                <a:spcPts val="24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Fase 3: Refinar metadatos en la base de datos local del historial.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